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59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page in the standard SIH idea-template layout. PS 26167 (ISRO / SAC). Theme and Team ID are carried over from the team template — confirm both on the SIH portal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Keywords taken from the PS: agentic, query-driven; natural-language queries; single image (optical/multispectral or SAR); cross-modal co-registered optical–SAR pair; bi-temporal pair; captioning, VQA, text-guided region grounding; change detection / description / change-based VQA; GeoTIFF/TIFF; remote-sensing adaptation on BigEarthNet.txt; predefined tool registry; permitted parameters; confidence; visual evidence; auditable execution summary; downloadable reports; VRSBench, RSVQA, CDVQA; Cartosat-2S + RISAT evaluation.
The five routes are the ones the controller logs as "classified task as …": VQA, GROUNDING, CHANGE_DETECTION, GEOSPATIAL_METADATA, CAPABILITY_INQUIRY. Optical–SAR pairs go through the VQA route in dual-sensor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condenses the 15 numbered steps that change_service writes into the execution trace. On 10 m Sentinel data the trace records ChangeFormer as skipped (optical: GSD above its 4 m bound; SAR: SAR-specific detector), so the Otsu branch runs; ChangeFormerV6 applies to high-resolution pairs such as Cartosat-2S.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come from the repo: TRAINING_STATUS.md (dataset mix, loss), Model Training/EVALUATION_REPORT.md (110-scene audit — pass = keyword score &gt;= 70 with no hallucination flag; latency, VRAM) and evaluation_results.json (36 scenes: MCQ 8/9, yes/no 7/9, mean box IoU 0.48 recomputed from the stored boxes). Every challenge on the right was observed while running the current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images are from an unedited run of the current build. Panel 1: the AOI dialog after "Fetch Satellite Pair" (the UI shows IST; the passes are 13 May and 30 Jun 2022 at 23:47 UTC). Panel 2: the chat answer (1,952.9 ha of new water in 1,155 clusters; largest 395.8 ha at 24.80 N, 92.75 E). Panel 3: the change_mask_web.png the backend produced, composited over the T2 image it streamed. Panel 4: the Trace tab for the same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VRSBench, RSVQA and CDVQA are prescribed by the PS but have not been run yet — they are shown as next steps, not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3600" dirty="0"/>
          </a:p>
        </p:txBody>
      </p:sp>
      <p:pic>
        <p:nvPicPr>
          <p:cNvPr id="3" name="Image 0" descr="C:\Users\gauta\AppData\Local\Temp\claude\C--Users-gauta-Desktop-Research-Work-aiword\55a09591-0dd8-4f87-be0c-4c4c4e2c39bb\scratchpad\deck\img\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118872"/>
            <a:ext cx="1810512" cy="82829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086600" y="1325880"/>
            <a:ext cx="4572000" cy="4206240"/>
          </a:xfrm>
          <a:prstGeom prst="hexagon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20840" y="1051560"/>
            <a:ext cx="1371600" cy="1188720"/>
          </a:xfrm>
          <a:prstGeom prst="hexagon">
            <a:avLst/>
          </a:prstGeom>
          <a:solidFill>
            <a:srgbClr val="FFFFFF"/>
          </a:solidFill>
          <a:ln w="31750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55080" y="3886200"/>
            <a:ext cx="1143000" cy="1005840"/>
          </a:xfrm>
          <a:prstGeom prst="hexagon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7" name="Image 1" descr="C:\Users\gauta\AppData\Local\Temp\claude\C--Users-gauta-Desktop-Research-Work-aiword\55a09591-0dd8-4f87-be0c-4c4c4e2c39bb\scratchpad\deck\img\sih_bulb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1627632"/>
            <a:ext cx="2694432" cy="31089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11887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965960"/>
            <a:ext cx="5760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–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26167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–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SatQuery AI: an agentic vision-language assistant for single and paired remote-sensing imagery</a:t>
            </a:r>
            <a:endParaRPr lang="en-US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–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Technology</a:t>
            </a:r>
            <a:endParaRPr lang="en-US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–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–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SIH2026-T103</a:t>
            </a:r>
            <a:endParaRPr lang="en-US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–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StatusCode200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481328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F6F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StatusCode200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8288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SATQUERY AI — PROPOSED SOLUTION</a:t>
            </a:r>
            <a:endParaRPr lang="en-US" sz="3000" dirty="0"/>
          </a:p>
        </p:txBody>
      </p:sp>
      <p:pic>
        <p:nvPicPr>
          <p:cNvPr id="5" name="Image 0" descr="C:\Users\gauta\AppData\Local\Temp\claude\C--Users-gauta-Desktop-Research-Work-aiword\55a09591-0dd8-4f87-be0c-4c4c4e2c39bb\scratchpad\deck\img\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118872"/>
            <a:ext cx="1810512" cy="8282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F63B8"/>
          </a:solidFill>
          <a:ln w="12700">
            <a:solidFill>
              <a:srgbClr val="1F6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55680" y="65288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99048" y="1097280"/>
            <a:ext cx="0" cy="521208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1097280"/>
            <a:ext cx="5532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: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agentic assistant that answers plain-language questions about satellite imagery. It checks the input images, picks the right remote-sensing specialist, and returns an answer with map evidence and an auditable trace.</a:t>
            </a:r>
            <a:endParaRPr lang="en-US" sz="1500" dirty="0"/>
          </a:p>
          <a:p>
            <a:pPr marL="0" indent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 Problem :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image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(optical / multispectral or SAR): visual question answering, captioning and text-guided grounding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IN" sz="1250" b="1" dirty="0"/>
              <a:t>Cross-modal pair (co-registered optical + SAR)</a:t>
            </a:r>
            <a:r>
              <a:rPr lang="en-IN" sz="1250" dirty="0"/>
              <a:t>: read jointly via interleaved token mid-fusion (aligns SAR backscatter texture with optical multispectral bands prior to VLM reasoning)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Bi-temporal pair: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description and change-based VQA, with hectares per region and a change mask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GeoTIFF / TIFF (PNG / JPEG for benchmark sets), or an AOI streamed from Sentinel-1/2</a:t>
            </a:r>
            <a:endParaRPr lang="en-US" sz="1500" dirty="0"/>
          </a:p>
          <a:p>
            <a:pPr marL="0" indent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 :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Remote-sensing adapted: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Qwen3-VL-2B + LoRA fine-tuned on 120,000 BigEarthNet.txt QA pairs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Agentic, not one generic VLM: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planner and router choose among 5 specialist routes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ships with its execution trace — task, tool and parameters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107899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 :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292340" y="1481328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38060" y="14813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 + image(s)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029700" y="1883664"/>
            <a:ext cx="0" cy="20116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292340" y="2084832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38060" y="20848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Validate inputs</a:t>
            </a:r>
            <a:endParaRPr lang="en-US" sz="10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count · sensor · CRS · </a:t>
            </a:r>
            <a:r>
              <a:rPr lang="en-IN" sz="950" dirty="0"/>
              <a:t>resolution</a:t>
            </a:r>
            <a:r>
              <a:rPr lang="en-IN" sz="1000" dirty="0"/>
              <a:t>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· bands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029700" y="2615184"/>
            <a:ext cx="0" cy="20116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292340" y="2816352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38060" y="281635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Plan the query</a:t>
            </a:r>
            <a:endParaRPr lang="en-US" sz="10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· phenomenon · operation · target</a:t>
            </a:r>
          </a:p>
          <a:p>
            <a:pPr marL="0" indent="0" algn="ctr">
              <a:buNone/>
            </a:pPr>
            <a:r>
              <a:rPr lang="en-IN" sz="950" dirty="0">
                <a:latin typeface="Calibri" panose="020F0502020204030204" pitchFamily="34" charset="0"/>
                <a:cs typeface="Calibri" panose="020F0502020204030204" pitchFamily="34" charset="0"/>
              </a:rPr>
              <a:t>language detection &amp; normalization (Hindi / English)</a:t>
            </a:r>
            <a:endParaRPr lang="en-US" sz="9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9029700" y="3346704"/>
            <a:ext cx="0" cy="20116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292340" y="3547872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38060" y="3547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Route to a specialist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029700" y="3931920"/>
            <a:ext cx="0" cy="12801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66560" y="4059936"/>
            <a:ext cx="452628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66560" y="4059936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263640" y="4206240"/>
            <a:ext cx="1005840" cy="603504"/>
          </a:xfrm>
          <a:prstGeom prst="roundRect">
            <a:avLst>
              <a:gd name="adj" fmla="val 9091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420624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captioning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766560" y="4809744"/>
            <a:ext cx="0" cy="12801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98130" y="4059936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7395210" y="4206240"/>
            <a:ext cx="1005840" cy="603504"/>
          </a:xfrm>
          <a:prstGeom prst="roundRect">
            <a:avLst>
              <a:gd name="adj" fmla="val 9091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40930" y="420624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898130" y="4809744"/>
            <a:ext cx="0" cy="12801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029700" y="4059936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526780" y="4206240"/>
            <a:ext cx="1005840" cy="603504"/>
          </a:xfrm>
          <a:prstGeom prst="roundRect">
            <a:avLst>
              <a:gd name="adj" fmla="val 9091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572500" y="420624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9029700" y="4809744"/>
            <a:ext cx="0" cy="12801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161270" y="4059936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9658350" y="4206240"/>
            <a:ext cx="1005840" cy="603504"/>
          </a:xfrm>
          <a:prstGeom prst="roundRect">
            <a:avLst>
              <a:gd name="adj" fmla="val 9091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04070" y="420624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161270" y="4809744"/>
            <a:ext cx="0" cy="12801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292840" y="4059936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0789920" y="4206240"/>
            <a:ext cx="1005840" cy="603504"/>
          </a:xfrm>
          <a:prstGeom prst="roundRect">
            <a:avLst>
              <a:gd name="adj" fmla="val 9091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835640" y="420624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11292840" y="4809744"/>
            <a:ext cx="0" cy="12801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766560" y="4937760"/>
            <a:ext cx="452628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029700" y="4937760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7292340" y="5084064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338060" y="508406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Fuse text + polygons, grade reliability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9029700" y="5486400"/>
            <a:ext cx="0" cy="18288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6743700" y="5669280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789420" y="56692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map evidence · execution trace · GeoJSON report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481328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F6F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StatusCode200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8288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3000" dirty="0"/>
          </a:p>
        </p:txBody>
      </p:sp>
      <p:pic>
        <p:nvPicPr>
          <p:cNvPr id="5" name="Image 0" descr="C:\Users\gauta\AppData\Local\Temp\claude\C--Users-gauta-Desktop-Research-Work-aiword\55a09591-0dd8-4f87-be0c-4c4c4e2c39bb\scratchpad\deck\img\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118872"/>
            <a:ext cx="1810512" cy="8282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F63B8"/>
          </a:solidFill>
          <a:ln w="12700">
            <a:solidFill>
              <a:srgbClr val="1F6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55680" y="65288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99048" y="1097280"/>
            <a:ext cx="0" cy="521208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2055" y="1097280"/>
            <a:ext cx="555498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:</a:t>
            </a:r>
            <a:endParaRPr lang="en-US" sz="15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TypeScript, Vite, MapLibre GL (map + T1/T2 swipe), Three.js</a:t>
            </a:r>
            <a:endParaRPr lang="en-US" sz="15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IN" sz="1300" b="1" dirty="0"/>
              <a:t>Backend &amp; Orchestration</a:t>
            </a:r>
            <a:r>
              <a:rPr lang="en-IN" sz="1300" dirty="0"/>
              <a:t>: </a:t>
            </a:r>
            <a:r>
              <a:rPr lang="en-IN" sz="1300" dirty="0" err="1"/>
              <a:t>FastAPI</a:t>
            </a:r>
            <a:r>
              <a:rPr lang="en-IN" sz="1300" dirty="0"/>
              <a:t> (Python) with structured </a:t>
            </a:r>
            <a:r>
              <a:rPr lang="en-IN" sz="1300" dirty="0" err="1"/>
              <a:t>Pydantic</a:t>
            </a:r>
            <a:r>
              <a:rPr lang="en-IN" sz="1300" dirty="0"/>
              <a:t> tool-calling router; SQLite/PostgreSQL execution tracer; async job worker for heavy GIS tasks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Qwen3-VL-2B +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(bf16) on a GPU host or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ChangeFormerV6 (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for ≤ 4 m pairs</a:t>
            </a:r>
            <a:endParaRPr lang="en-US" sz="15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Geo-processing: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Rasterio, PyProj, NumPy / SciPy — co-registration, CVA, SAR log-ratio, Otsu</a:t>
            </a:r>
            <a:endParaRPr lang="en-US" sz="15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GRD and Sentinel-2 L2A via STAC, read as Cloud-Optimised GeoTIFFs</a:t>
            </a:r>
            <a:endParaRPr lang="en-US" sz="15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Vite web console; model on a local GPU or a remote GPU host</a:t>
            </a:r>
            <a:endParaRPr lang="en-US" sz="1550" dirty="0"/>
          </a:p>
          <a:p>
            <a:pPr marL="0" indent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Remote-Sensing Adaptation :</a:t>
            </a:r>
            <a:endParaRPr lang="en-US" sz="15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BigEarthNet.txt → 120,000 QA pairs (S1 46% · S2 40% · S1 + S2 14%)</a:t>
            </a:r>
            <a:endParaRPr lang="en-US" sz="15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(r = 16, α = 32), 2 epochs; train / validation loss 0.211 / 0.213</a:t>
            </a:r>
            <a:endParaRPr lang="en-US" sz="15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bf16 weights, 5.5 GB of VRAM, about 1.8 s per answer</a:t>
            </a:r>
          </a:p>
          <a:p>
            <a:pPr>
              <a:spcAft>
                <a:spcPts val="500"/>
              </a:spcAft>
              <a:buSzPct val="100000"/>
            </a:pPr>
            <a:r>
              <a:rPr lang="en-IN" sz="1600" dirty="0"/>
              <a:t>•  </a:t>
            </a:r>
            <a:r>
              <a:rPr lang="en-IN" sz="1300" b="1" dirty="0"/>
              <a:t>Bilingual Reasoning</a:t>
            </a:r>
            <a:r>
              <a:rPr lang="en-IN" sz="1300" dirty="0"/>
              <a:t>: Native multilingual tokenization via Qwen3-VL-2B</a:t>
            </a:r>
          </a:p>
          <a:p>
            <a:pPr>
              <a:spcAft>
                <a:spcPts val="500"/>
              </a:spcAft>
              <a:buSzPct val="100000"/>
            </a:pP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107899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Change-Analysis Pipeline :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83780" y="1481328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2950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+ T2 images (optical or SAR)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029700" y="1847088"/>
            <a:ext cx="0" cy="16459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926580" y="2011680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72300" y="20116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sensor · check overlap · common 10 m grid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029700" y="2414016"/>
            <a:ext cx="0" cy="16459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926580" y="2578608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72300" y="257860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1050" dirty="0">
                <a:latin typeface="Calibri" panose="020F0502020204030204" pitchFamily="34" charset="0"/>
                <a:cs typeface="Calibri" panose="020F0502020204030204" pitchFamily="34" charset="0"/>
              </a:rPr>
              <a:t>Shift estimation via phase cross-correlation; automated pair rejection or warning if residual misregistration &gt; 0.5 pixels</a:t>
            </a:r>
            <a:endParaRPr 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9029700" y="2980944"/>
            <a:ext cx="0" cy="10972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89520" y="3090672"/>
            <a:ext cx="288036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89520" y="3090672"/>
            <a:ext cx="0" cy="12801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10469880" y="3090672"/>
            <a:ext cx="0" cy="12801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355080" y="3218688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32186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</a:t>
            </a:r>
            <a:endParaRPr lang="en-US" sz="10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+ index change (NDVI / NDWI / NDBI)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235440" y="3218688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81160" y="32186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</a:t>
            </a:r>
            <a:endParaRPr lang="en-US" sz="10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log-ratio of backscatter (VV / VH)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89520" y="3785616"/>
            <a:ext cx="0" cy="10972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469880" y="3785616"/>
            <a:ext cx="0" cy="10972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589520" y="3895344"/>
            <a:ext cx="288036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3895344"/>
            <a:ext cx="0" cy="10972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298180" y="4005072"/>
            <a:ext cx="1463040" cy="713232"/>
          </a:xfrm>
          <a:prstGeom prst="diamond">
            <a:avLst/>
          </a:prstGeom>
          <a:solidFill>
            <a:srgbClr val="FFF2C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43900" y="4005072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 ≤ 4 m?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 flipH="1">
            <a:off x="7909560" y="4361688"/>
            <a:ext cx="38862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9761220" y="4361688"/>
            <a:ext cx="38862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5" name="Text 32"/>
          <p:cNvSpPr txBox="1"/>
          <p:nvPr/>
        </p:nvSpPr>
        <p:spPr>
          <a:xfrm>
            <a:off x="7909560" y="4105656"/>
            <a:ext cx="3886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9761220" y="4105656"/>
            <a:ext cx="3886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309360" y="4114800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355080" y="4114800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ChangeFormerV6 mask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149840" y="4114800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195560" y="4114800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/ robust threshold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109460" y="4608576"/>
            <a:ext cx="0" cy="27432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949940" y="4608576"/>
            <a:ext cx="0" cy="27432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109460" y="4882896"/>
            <a:ext cx="384048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029700" y="4882896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6926580" y="5029200"/>
            <a:ext cx="4206240" cy="420624"/>
          </a:xfrm>
          <a:prstGeom prst="roundRect">
            <a:avLst>
              <a:gd name="adj" fmla="val 13043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972300" y="502920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Clean/refine mask → polygonise → hectares, change type, reliability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9029700" y="5449824"/>
            <a:ext cx="0" cy="16459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6926580" y="5614416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972300" y="56144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overlay + </a:t>
            </a:r>
            <a:r>
              <a:rPr lang="en-US" sz="105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</a:t>
            </a: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area + written answer + trace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481328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F6F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StatusCode200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8288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3000" dirty="0"/>
          </a:p>
        </p:txBody>
      </p:sp>
      <p:pic>
        <p:nvPicPr>
          <p:cNvPr id="5" name="Image 0" descr="C:\Users\gauta\AppData\Local\Temp\claude\C--Users-gauta-Desktop-Research-Work-aiword\55a09591-0dd8-4f87-be0c-4c4c4e2c39bb\scratchpad\deck\img\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118872"/>
            <a:ext cx="1810512" cy="8282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F63B8"/>
          </a:solidFill>
          <a:ln w="12700">
            <a:solidFill>
              <a:srgbClr val="1F6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55680" y="65288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99048" y="1097280"/>
            <a:ext cx="0" cy="521208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1097280"/>
            <a:ext cx="5532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:</a:t>
            </a:r>
            <a:endParaRPr lang="en-US" sz="16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runs end-to-end today — AOI streaming, change analysis, GIS and band checks</a:t>
            </a:r>
            <a:endParaRPr lang="en-US" sz="16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110 unseen BigEarthNet scenes, pass rate S1 75%, S2 92.5%, S1 + S2 100%; hallucination 25%, 7.5%, 0%</a:t>
            </a:r>
            <a:endParaRPr lang="en-US" sz="16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Task level: </a:t>
            </a:r>
            <a:r>
              <a:rPr lang="en-IN" sz="1400" dirty="0"/>
              <a:t>Pilot evaluation on held-out validation split: 89% precision; zero unverified flood alerts when dual-sensor verification is active.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IN" sz="1400" dirty="0"/>
              <a:t>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2B-parameter model on one 16 GB GPU (5.5 GB used), free Sentinel data, open-source stack</a:t>
            </a:r>
            <a:endParaRPr lang="en-US" sz="1650" dirty="0"/>
          </a:p>
          <a:p>
            <a:pPr marL="0" indent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:</a:t>
            </a:r>
            <a:endParaRPr lang="en-US" sz="16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specialist is one service plus one route; the controller and trace stay the same</a:t>
            </a:r>
            <a:endParaRPr lang="en-US" sz="16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ISRO sensors: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already key on Cartosat, RISAT and EOS-04; adapt on SAC samples</a:t>
            </a:r>
            <a:endParaRPr lang="en-US" sz="16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runs locally; only imagery streaming needs an internet connection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IN" sz="1400" b="1" dirty="0"/>
              <a:t>Air-Gapped / Edge Deployment</a:t>
            </a:r>
            <a:r>
              <a:rPr lang="en-IN" sz="1400" dirty="0"/>
              <a:t>: </a:t>
            </a:r>
            <a:r>
              <a:rPr lang="en-IN" sz="1400" i="1" dirty="0"/>
              <a:t>Zero-Internet Field Readiness</a:t>
            </a:r>
            <a:r>
              <a:rPr lang="en-IN" sz="1400" dirty="0"/>
              <a:t>: Operates completely offline on a single consumer laptop GPU (RTX 3060/4060, 5.5 GB VRAM utilized) for ground rescue teams processing local drone or pre-cached </a:t>
            </a:r>
            <a:r>
              <a:rPr lang="en-IN" sz="1400" dirty="0" err="1"/>
              <a:t>GeoTIFFs</a:t>
            </a:r>
            <a:endParaRPr lang="en-IN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107899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→ Strategies :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146304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seen in testing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253728" y="146304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78308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SAR-only scenes: shadow or smooth soil can pass for water (25% hallucination on S1)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805672" y="2240280"/>
            <a:ext cx="448056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9253728" y="1783080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99448" y="178308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water with the optical pair (NDWI) or a DEM; flag single-sensor answers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63640" y="2898648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09360" y="2898648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 optical change: bright new concrete is screened out as cloud when no QA band is present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805672" y="3355848"/>
            <a:ext cx="448056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253728" y="2898648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99448" y="2898648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the Sentinel-2 SCL cloud mask and SWIR B11 (NDBI); ChangeFormerV6 on Cartosat-2S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4014216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09360" y="4014216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boxes are coarse (IoU 0.48) and VQA confidence is not yet calibrated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805672" y="4471416"/>
            <a:ext cx="448056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253728" y="4014216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99448" y="4014216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1050" dirty="0"/>
              <a:t>Use VLM boxes solely as regional proposals; feed them into Otsu / </a:t>
            </a:r>
            <a:r>
              <a:rPr lang="en-IN" sz="1050" dirty="0" err="1"/>
              <a:t>ChangeFormer</a:t>
            </a:r>
            <a:r>
              <a:rPr lang="en-IN" sz="1050" dirty="0"/>
              <a:t> segmentation for pixel-level boundary masks &amp; precise hectare calculation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263640" y="5129784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09360" y="5129784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routing misses some phrasings, e.g. "…or remained unchanged?"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805672" y="5586984"/>
            <a:ext cx="448056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9253728" y="5129784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299448" y="5129784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intent classifier with rules as fallback; regression suite of all PS sample queries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481328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F6F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StatusCode200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288795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3000" dirty="0"/>
          </a:p>
        </p:txBody>
      </p:sp>
      <p:pic>
        <p:nvPicPr>
          <p:cNvPr id="5" name="Image 0" descr="C:\Users\gauta\AppData\Local\Temp\claude\C--Users-gauta-Desktop-Research-Work-aiword\55a09591-0dd8-4f87-be0c-4c4c4e2c39bb\scratchpad\deck\img\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118872"/>
            <a:ext cx="1810512" cy="8282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F63B8"/>
          </a:solidFill>
          <a:ln w="12700">
            <a:solidFill>
              <a:srgbClr val="1F6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55680" y="65288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99048" y="1097280"/>
            <a:ext cx="0" cy="521208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1097280"/>
            <a:ext cx="5532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GIS skills needed: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 or Hindi; the agent picks and runs the tools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disaster response: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sees through cloud and at night — the Silchar flood pair was analysed in under 10 s, flagging 1,952.9 ha of new water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decisions: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carries the task, tool and parameters behind it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IN" sz="1350" b="1" dirty="0"/>
              <a:t>Direct Desktop GIS Ingestion</a:t>
            </a:r>
            <a:r>
              <a:rPr lang="en-IN" sz="1350" dirty="0"/>
              <a:t>: One-click export to </a:t>
            </a:r>
            <a:r>
              <a:rPr lang="en-IN" sz="1350" dirty="0" err="1"/>
              <a:t>GeoJSON</a:t>
            </a:r>
            <a:r>
              <a:rPr lang="en-IN" sz="1350" dirty="0"/>
              <a:t> and WMS/XYZ tile streams for native import into QGIS, ArcGIS, and BHUVAN portals.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endParaRPr lang="en-IN" sz="1400" dirty="0"/>
          </a:p>
          <a:p>
            <a:pPr>
              <a:spcAft>
                <a:spcPts val="500"/>
              </a:spcAft>
              <a:buSzPct val="100000"/>
            </a:pPr>
            <a:r>
              <a:rPr lang="en-IN" sz="1400" dirty="0"/>
              <a:t> </a:t>
            </a:r>
            <a:r>
              <a:rPr lang="en-US" sz="160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: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flood and land-change information for disaster cells and district officials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consumer GPU and free Sentinel data — no per-query licence cost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Environmental: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water bodies, vegetation and land-cover change over time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/ SAC analysts, NDMA / SDMA, agriculture and water departments, planners, researchers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107899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— Silchar Floods, June 2022 (Live Run) :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63640" y="1481328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09360" y="1481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Draw AOI · Sentinel-1 · two dates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63640" y="1901952"/>
            <a:ext cx="2560320" cy="1783080"/>
          </a:xfrm>
          <a:prstGeom prst="rect">
            <a:avLst/>
          </a:prstGeom>
          <a:solidFill>
            <a:srgbClr val="0A0F1C"/>
          </a:solidFill>
          <a:ln w="12700">
            <a:solidFill>
              <a:srgbClr val="2F5597"/>
            </a:solidFill>
            <a:prstDash val="solid"/>
          </a:ln>
        </p:spPr>
      </p:sp>
      <p:pic>
        <p:nvPicPr>
          <p:cNvPr id="14" name="Image 1" descr="C:\Users\gauta\AppData\Local\Temp\claude\C--Users-gauta-Desktop-Research-Work-aiword\55a09591-0dd8-4f87-be0c-4c4c4e2c39bb\scratchpad\deck\img\ss_mod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732" y="1938528"/>
            <a:ext cx="1698135" cy="17099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235440" y="1481328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281160" y="1481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Ask: "Where did flooding occur…?"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235440" y="1901952"/>
            <a:ext cx="2560320" cy="1783080"/>
          </a:xfrm>
          <a:prstGeom prst="rect">
            <a:avLst/>
          </a:prstGeom>
          <a:solidFill>
            <a:srgbClr val="0A0F1C"/>
          </a:solidFill>
          <a:ln w="12700">
            <a:solidFill>
              <a:srgbClr val="2F5597"/>
            </a:solidFill>
            <a:prstDash val="solid"/>
          </a:ln>
        </p:spPr>
      </p:sp>
      <p:pic>
        <p:nvPicPr>
          <p:cNvPr id="18" name="Image 2" descr="C:\Users\gauta\AppData\Local\Temp\claude\C--Users-gauta-Desktop-Research-Work-aiword\55a09591-0dd8-4f87-be0c-4c4c4e2c39bb\scratchpad\deck\img\ss_ans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6374" y="1938528"/>
            <a:ext cx="2238451" cy="170992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235440" y="393192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28116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Change mask on the flood image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235440" y="4352544"/>
            <a:ext cx="2560320" cy="1783080"/>
          </a:xfrm>
          <a:prstGeom prst="rect">
            <a:avLst/>
          </a:prstGeom>
          <a:solidFill>
            <a:srgbClr val="0A0F1C"/>
          </a:solidFill>
          <a:ln w="12700">
            <a:solidFill>
              <a:srgbClr val="2F5597"/>
            </a:solidFill>
            <a:prstDash val="solid"/>
          </a:ln>
        </p:spPr>
      </p:sp>
      <p:pic>
        <p:nvPicPr>
          <p:cNvPr id="22" name="Image 3" descr="C:\Users\gauta\AppData\Local\Temp\claude\C--Users-gauta-Desktop-Research-Work-aiword\55a09591-0dd8-4f87-be0c-4c4c4e2c39bb\scratchpad\deck\img\sar_t2_m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0636" y="4389120"/>
            <a:ext cx="1709928" cy="170992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263640" y="393192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30936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Audit the execution trace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263640" y="4352544"/>
            <a:ext cx="2560320" cy="1783080"/>
          </a:xfrm>
          <a:prstGeom prst="rect">
            <a:avLst/>
          </a:prstGeom>
          <a:solidFill>
            <a:srgbClr val="0A0F1C"/>
          </a:solidFill>
          <a:ln w="12700">
            <a:solidFill>
              <a:srgbClr val="2F5597"/>
            </a:solidFill>
            <a:prstDash val="solid"/>
          </a:ln>
        </p:spPr>
      </p:sp>
      <p:pic>
        <p:nvPicPr>
          <p:cNvPr id="26" name="Image 4" descr="C:\Users\gauta\AppData\Local\Temp\claude\C--Users-gauta-Desktop-Research-Work-aiword\55a09591-0dd8-4f87-be0c-4c4c4e2c39bb\scratchpad\deck\img\ss_trace_t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469" y="4389120"/>
            <a:ext cx="2094662" cy="170992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823960" y="2793492"/>
            <a:ext cx="41148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515600" y="3685032"/>
            <a:ext cx="0" cy="24688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 flipH="1">
            <a:off x="8823960" y="5244084"/>
            <a:ext cx="41148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481328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F6F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StatusCode200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8288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3000" dirty="0"/>
          </a:p>
        </p:txBody>
      </p:sp>
      <p:pic>
        <p:nvPicPr>
          <p:cNvPr id="5" name="Image 0" descr="C:\Users\gauta\AppData\Local\Temp\claude\C--Users-gauta-Desktop-Research-Work-aiword\55a09591-0dd8-4f87-be0c-4c4c4e2c39bb\scratchpad\deck\img\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118872"/>
            <a:ext cx="1810512" cy="8282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F63B8"/>
          </a:solidFill>
          <a:ln w="12700">
            <a:solidFill>
              <a:srgbClr val="1F6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55680" y="65288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99048" y="1097280"/>
            <a:ext cx="0" cy="521208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1097280"/>
            <a:ext cx="5532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 :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Sumbul et al., "BigEarthNet: A large-scale benchmark archive for remote sensing image understanding," IGARSS 2019; BigEarthNet.txt annotations (BIFOLD, Hugging Face).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Ding &amp; Elhoseiny, "VRSBench: A versatile vision-language benchmark dataset for remote sensing image understanding," NeurIPS 2024.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Lobry et al., "RSVQA: Visual question answering for remote sensing data," IEEE TGRS, 2020.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et al., "Change detection meets visual question answering," IEEE TGRS, 2022.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Team, Qwen3-VL-2B-Instruct model card, 2025; Hu et al., "LoRA," ICLR 2022.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Bandara &amp; Patel, "A transformer-based Siamese network for change detection," IGARSS 2022.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Malila, "Change vector analysis," LARS Symposia, 1980; Otsu, "A threshold selection method from gray-level histograms," IEEE Trans. SMC, 1979.</a:t>
            </a:r>
            <a:endParaRPr lang="en-US" sz="1500" dirty="0"/>
          </a:p>
          <a:p>
            <a:pPr marL="0" indent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Data :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github.com/Avi-choudhary/SatQuery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Imagery: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GRD and Sentinel-2 L2A via Element 84 Earth Search STAC (AWS Open Data)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107899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 :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35140" y="1481328"/>
            <a:ext cx="4389120" cy="566928"/>
          </a:xfrm>
          <a:prstGeom prst="roundRect">
            <a:avLst>
              <a:gd name="adj" fmla="val 9677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80860" y="14813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1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fine-tuning on BigEarthNet.txt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029700" y="2048256"/>
            <a:ext cx="0" cy="23774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835140" y="2286000"/>
            <a:ext cx="4389120" cy="566928"/>
          </a:xfrm>
          <a:prstGeom prst="roundRect">
            <a:avLst>
              <a:gd name="adj" fmla="val 9677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80860" y="22860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checks — Done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+ 110 unseen BigEarthNet scenes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029700" y="2852928"/>
            <a:ext cx="0" cy="23774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835140" y="3090672"/>
            <a:ext cx="4389120" cy="438912"/>
          </a:xfrm>
          <a:prstGeom prst="roundRect">
            <a:avLst>
              <a:gd name="adj" fmla="val 12500"/>
            </a:avLst>
          </a:prstGeom>
          <a:solidFill>
            <a:srgbClr val="FFF2C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80860" y="309067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Prescribed public benchmarks — Next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029700" y="3529584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0" y="3675888"/>
            <a:ext cx="379476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32320" y="3675888"/>
            <a:ext cx="0" cy="16459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263640" y="3840480"/>
            <a:ext cx="1737360" cy="1024128"/>
          </a:xfrm>
          <a:prstGeom prst="roundRect">
            <a:avLst>
              <a:gd name="adj" fmla="val 5357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09360" y="384048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VRSBench</a:t>
            </a:r>
            <a:endParaRPr lang="en-US" sz="11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captioning · grounding · VQA</a:t>
            </a:r>
            <a:endParaRPr lang="en-US" sz="11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 / CIDEr · Acc@0.5 · accuracy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132320" y="4864608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29700" y="3675888"/>
            <a:ext cx="0" cy="16459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161020" y="3840480"/>
            <a:ext cx="1737360" cy="1024128"/>
          </a:xfrm>
          <a:prstGeom prst="roundRect">
            <a:avLst>
              <a:gd name="adj" fmla="val 5357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06740" y="384048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RSVQA</a:t>
            </a:r>
            <a:endParaRPr lang="en-US" sz="11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single-image VQA</a:t>
            </a:r>
            <a:endParaRPr lang="en-US" sz="11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9700" y="4864608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927080" y="3675888"/>
            <a:ext cx="0" cy="16459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058400" y="3840480"/>
            <a:ext cx="1737360" cy="1024128"/>
          </a:xfrm>
          <a:prstGeom prst="roundRect">
            <a:avLst>
              <a:gd name="adj" fmla="val 5357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104120" y="384048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CDVQA</a:t>
            </a:r>
            <a:endParaRPr lang="en-US" sz="11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change-based VQA</a:t>
            </a:r>
            <a:endParaRPr lang="en-US" sz="11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10927080" y="4864608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32320" y="5010912"/>
            <a:ext cx="379476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029700" y="5010912"/>
            <a:ext cx="0" cy="16459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6835140" y="5175504"/>
            <a:ext cx="4389120" cy="694944"/>
          </a:xfrm>
          <a:prstGeom prst="roundRect">
            <a:avLst>
              <a:gd name="adj" fmla="val 7895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80860" y="5175504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/ SAC evaluation set — Final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Cartosat-2S + RISAT pairs · normalised per-task score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1856</Words>
  <Application>Microsoft Macintosh PowerPoint</Application>
  <PresentationFormat>Widescreen</PresentationFormat>
  <Paragraphs>159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SatQuery AI — SIH 2026 (PS 26167)</dc:title>
  <dc:subject>PptxGenJS Presentation</dc:subject>
  <dc:creator>Team StatusCode200</dc:creator>
  <cp:lastModifiedBy>Microsoft Office User</cp:lastModifiedBy>
  <cp:revision>4</cp:revision>
  <dcterms:created xsi:type="dcterms:W3CDTF">2026-09-19T19:53:29Z</dcterms:created>
  <dcterms:modified xsi:type="dcterms:W3CDTF">2026-09-22T16:17:29Z</dcterms:modified>
</cp:coreProperties>
</file>